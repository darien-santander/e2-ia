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" id="{589d7add-046d-3bbb-8139-11265ef2e8c4}">
          <p14:sldIdLst>
            <p14:sldId id="256"/>
          </p14:sldIdLst>
        </p14:section>
        <p14:section name="Datos" id="{d2885aeb-68f9-6a05-4f05-bb551632902c}">
          <p14:sldIdLst>
            <p14:sldId id="257"/>
          </p14:sldIdLst>
        </p14:section>
        <p14:section name="Resultados" id="{49aa0178-fb36-30db-ddd6-39096708380e}">
          <p14:sldIdLst>
            <p14:sldId id="258"/>
          </p14:sldIdLst>
        </p14:section>
        <p14:section name="Recomendaciones" id="{2dd98a3c-90c3-7765-e621-0930d534ca7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Arial"/>
              </a:rPr>
              <a:t>% de valores nulos por variable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nulos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satisfaccion_nps</c:v>
                  </c:pt>
                  <c:pt idx="1">
                    <c:v>tickets_soporte</c:v>
                  </c:pt>
                  <c:pt idx="2">
                    <c:v>promedio_sesiones_mes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11.99</c:v>
                </c:pt>
                <c:pt idx="1">
                  <c:v>8.21</c:v>
                </c:pt>
                <c:pt idx="2">
                  <c:v>5.15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Arial"/>
              </a:rPr>
              <a:t>Coeficientes del modelo (USD de MRR)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Impacto en MRR (USD)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tamano_empresa</c:v>
                  </c:pt>
                  <c:pt idx="1">
                    <c:v>pago_puntual</c:v>
                  </c:pt>
                  <c:pt idx="2">
                    <c:v>promedio_sesiones_mes</c:v>
                  </c:pt>
                  <c:pt idx="3">
                    <c:v>duracion_contrato</c:v>
                  </c:pt>
                  <c:pt idx="4">
                    <c:v>satisfaccion_nps</c:v>
                  </c:pt>
                  <c:pt idx="5">
                    <c:v>gasto_mkt_asociado</c:v>
                  </c:pt>
                  <c:pt idx="6">
                    <c:v>tickets_soporte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323</c:v>
                </c:pt>
                <c:pt idx="1">
                  <c:v>204</c:v>
                </c:pt>
                <c:pt idx="2">
                  <c:v>174</c:v>
                </c:pt>
                <c:pt idx="3">
                  <c:v>128</c:v>
                </c:pt>
                <c:pt idx="4">
                  <c:v>48</c:v>
                </c:pt>
                <c:pt idx="5">
                  <c:v>33</c:v>
                </c:pt>
                <c:pt idx="6">
                  <c:v>-29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problema: sin proyección por cliente, Customer Success trabaja a ciegas. El modelo predice el MRR del próximo trimestre y permite priorizar. El ROI es una hipótesis de negocio, no un resultado medido en los datos: señalar que se validaría con un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Nulos: NPS 12 %, tickets 8 %, sesiones 5 %. Se eligió mediana para sesiones porque está muy sesgada y moda para variables enteras discretas. La clave técnica: split antes de ajustar nada y todo dentro del Pipeline, por lo que no hay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R² = proporción de la varianza del MRR explicada por el modelo. MAE = error promedio en USD por cliente. Train y test casi iguales: no hay sobreajuste. El MAE equivale a cerca del 10 % del MRR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variables continuas están estandarizadas y las categóricas no, así que el ranking es una guía aproximada de importancia. Las tres acciones son implementables mañana con las listas que genera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el MRR para proteger los ingresos de SaaSFlow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 de negocio · Evaluación 2, Modelado predictivo de MRR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20574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SaaSFlow no sabe cuánto ingreso recurrente conservará de cada cliente B2B. Las fugas se detectan tarde y Customer Success reparte su tiempo sin criterio.</a:t>
            </a:r>
            <a:endParaRPr lang="en-US" sz="1300" dirty="0"/>
          </a:p>
        </p:txBody>
      </p:sp>
      <p:sp>
        <p:nvSpPr>
          <p:cNvPr id="7" name="Card 2"/>
          <p:cNvSpPr/>
          <p:nvPr/>
        </p:nvSpPr>
        <p:spPr>
          <a:xfrm>
            <a:off x="3246120" y="20574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517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MRR del próximo trimestre por cliente (USD) para anticipar caídas y decidir dónde invertir esfuerzo de retención.</a:t>
            </a:r>
            <a:endParaRPr lang="en-US" sz="1300" dirty="0"/>
          </a:p>
        </p:txBody>
      </p:sp>
      <p:sp>
        <p:nvSpPr>
          <p:cNvPr id="10" name="Card 3"/>
          <p:cNvSpPr/>
          <p:nvPr/>
        </p:nvSpPr>
        <p:spPr>
          <a:xfrm>
            <a:off x="6035040" y="2057400"/>
            <a:ext cx="2651760" cy="22860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retorno esperado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517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MRR promedio de ~710 USD por cliente y un error de ~69 USD, se puede priorizar las cuentas en riesgo. Hipótesis de ROI: retener incluso un 1–2 % de cuentas en riesgo compensa el costo del modelo.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tratamiento de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 clientes · 3 variables con nulos · fuerte sesgo en el uso de la plataforma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lock 1"/>
          <p:cNvSpPr/>
          <p:nvPr/>
        </p:nvSpPr>
        <p:spPr>
          <a:xfrm>
            <a:off x="4572000" y="1325880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754880" y="1399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Sesgos y atípicos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7335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promedio_sesiones_mes: sesgo 1,97, 4,8 % de outliers (máx. 430 vs. mediana 36). El MRR también tiene sesgo positivo (1,05). fecha_registro venía como texto.</a:t>
            </a:r>
            <a:endParaRPr lang="en-US" sz="1100" dirty="0"/>
          </a:p>
        </p:txBody>
      </p:sp>
      <p:sp>
        <p:nvSpPr>
          <p:cNvPr id="8" name="Block 2"/>
          <p:cNvSpPr/>
          <p:nvPr/>
        </p:nvSpPr>
        <p:spPr>
          <a:xfrm>
            <a:off x="4572000" y="2441448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5488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de preparación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78892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Imputación: mediana (sesiones) y moda (tickets, NPS). Winsorización 1–99 %. antiguedad_dias desde la fecha de alta. Escalado estándar y codificación ordinal, One-Hot y binaria.</a:t>
            </a:r>
            <a:endParaRPr lang="en-US" sz="1100" dirty="0"/>
          </a:p>
        </p:txBody>
      </p:sp>
      <p:sp>
        <p:nvSpPr>
          <p:cNvPr id="11" name="Block 3"/>
          <p:cNvSpPr/>
          <p:nvPr/>
        </p:nvSpPr>
        <p:spPr>
          <a:xfrm>
            <a:off x="4572000" y="3557016"/>
            <a:ext cx="41148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54880" y="3630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contaminar datos futuros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9044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vive en un único Pipeline: medianas, límites, escalas y categorías se calculan solo con el 80 % de entrenamiento y luego se aplican al 20 % de prueba.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modelo y métricas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evaluada sobre 6.000 clientes que el modelo nunca vio</a:t>
            </a:r>
            <a:endParaRPr lang="en-US" sz="1400" dirty="0"/>
          </a:p>
        </p:txBody>
      </p:sp>
      <p:sp>
        <p:nvSpPr>
          <p:cNvPr id="4" name="Stat 1"/>
          <p:cNvSpPr/>
          <p:nvPr/>
        </p:nvSpPr>
        <p:spPr>
          <a:xfrm>
            <a:off x="45720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en prueba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91,8 % de las diferencias de MRR entre clientes.</a:t>
            </a:r>
            <a:endParaRPr lang="en-US" sz="1200" dirty="0"/>
          </a:p>
        </p:txBody>
      </p:sp>
      <p:sp>
        <p:nvSpPr>
          <p:cNvPr id="8" name="Stat 2"/>
          <p:cNvSpPr/>
          <p:nvPr/>
        </p:nvSpPr>
        <p:spPr>
          <a:xfrm>
            <a:off x="324612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 USD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 prueba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equivoca en promedio unos 69 USD por cliente.</a:t>
            </a:r>
            <a:endParaRPr lang="en-US" sz="1200" dirty="0"/>
          </a:p>
        </p:txBody>
      </p:sp>
      <p:sp>
        <p:nvSpPr>
          <p:cNvPr id="12" name="Stat 3"/>
          <p:cNvSpPr/>
          <p:nvPr/>
        </p:nvSpPr>
        <p:spPr>
          <a:xfrm>
            <a:off x="6035040" y="1325880"/>
            <a:ext cx="26517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417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10 %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relativo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un MRR promedio de 708 USD por cliente.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para el negocio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bien: R² 0,914 en entrenamiento vs. 0,918 en prueba, sin sobreajuste.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priorizar cuentas y proyectar el MRR total de la cartera; en una cuenta individual conviene leerlo con un margen de ±69 USD.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estratégicas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Tamaño, pago puntual y uso de la plataforma son los 3 factores con mayor peso en el MRR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ction 1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Num 1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3990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por pago impuntual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167335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hoy a los clientes con pago impuntual y coordinar con Finanzas un contacto proactivo.</a:t>
            </a:r>
            <a:endParaRPr lang="en-US" sz="1100" dirty="0"/>
          </a:p>
        </p:txBody>
      </p:sp>
      <p:sp>
        <p:nvSpPr>
          <p:cNvPr id="10" name="Action 2"/>
          <p:cNvSpPr/>
          <p:nvPr/>
        </p:nvSpPr>
        <p:spPr>
          <a:xfrm>
            <a:off x="4754880" y="2441448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Num 2"/>
          <p:cNvSpPr/>
          <p:nvPr/>
        </p:nvSpPr>
        <p:spPr>
          <a:xfrm>
            <a:off x="4892040" y="2715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2514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Reactivar cuentas de bajo uso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27889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Contactar a quienes están bajo la mediana de 36 sesiones/mes con onboarding o capacitación dirigida.</a:t>
            </a:r>
            <a:endParaRPr lang="en-US" sz="1100" dirty="0"/>
          </a:p>
        </p:txBody>
      </p:sp>
      <p:sp>
        <p:nvSpPr>
          <p:cNvPr id="15" name="Action 3"/>
          <p:cNvSpPr/>
          <p:nvPr/>
        </p:nvSpPr>
        <p:spPr>
          <a:xfrm>
            <a:off x="4754880" y="3557016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Num 3"/>
          <p:cNvSpPr/>
          <p:nvPr/>
        </p:nvSpPr>
        <p:spPr>
          <a:xfrm>
            <a:off x="4892040" y="38313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6301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Migrar contratos mensuales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3904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incentivos de paso a anual al 60 % de la base con contrato mensual.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también los tickets de soporte: es la única variable con efecto negativo (−29 USD por desviación estándar).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SFlow MRR">
  <a:themeElements>
    <a:clrScheme name="SaaSFlow MRR">
      <a:dk1>
        <a:srgbClr val="1B2A3A"/>
      </a:dk1>
      <a:lt1>
        <a:srgbClr val="FFFFFF"/>
      </a:lt1>
      <a:dk2>
        <a:srgbClr val="0B3C49"/>
      </a:dk2>
      <a:lt2>
        <a:srgbClr val="EAF2F4"/>
      </a:lt2>
      <a:accent1>
        <a:srgbClr val="0E7C86"/>
      </a:accent1>
      <a:accent2>
        <a:srgbClr val="F2A541"/>
      </a:accent2>
      <a:accent3>
        <a:srgbClr val="C0392B"/>
      </a:accent3>
      <a:accent4>
        <a:srgbClr val="2E8B57"/>
      </a:accent4>
      <a:accent5>
        <a:srgbClr val="5B7C99"/>
      </a:accent5>
      <a:accent6>
        <a:srgbClr val="8FB8C4"/>
      </a:accent6>
      <a:hlink>
        <a:srgbClr val="0E7C86"/>
      </a:hlink>
      <a:folHlink>
        <a:srgbClr val="5B7C99"/>
      </a:folHlink>
    </a:clrScheme>
    <a:fontScheme name="SaaSFlow MR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E2 - Modelado Predictivo de MRR - SaaSFlow</dc:title>
  <dc:subject>PptxGenJS Presentation</dc:subject>
  <dc:creator>PptxGenJS</dc:creator>
  <cp:lastModifiedBy>PptxGenJS</cp:lastModifiedBy>
  <cp:revision>1</cp:revision>
  <dcterms:created xsi:type="dcterms:W3CDTF">2026-10-01T21:24:24Z</dcterms:created>
  <dcterms:modified xsi:type="dcterms:W3CDTF">2026-10-01T21:24:24Z</dcterms:modified>
</cp:coreProperties>
</file>